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49C6F7-FA65-4273-80DE-C2AEBF88CB36}">
  <a:tblStyle styleId="{BD49C6F7-FA65-4273-80DE-C2AEBF88CB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1d3a4b26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01d3a4b26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1d3a4b26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01d3a4b26_1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1d3a4b26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a01d3a4b26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01d3a4b26_1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a01d3a4b26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01d3a4b26_1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01d3a4b26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01d3a4b26_1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a01d3a4b26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1d3a4b26_1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a01d3a4b26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01d3a4b26_1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01d3a4b26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01d3a4b26_1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a01d3a4b26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01d3a4b26_1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a01d3a4b26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01d3a4b26_1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a01d3a4b26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01d3a4b26_1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a01d3a4b26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01d3a4b26_1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01d3a4b26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01d3a4b26_1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a01d3a4b26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01d3a4b26_1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01d3a4b26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01d3a4b26_1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01d3a4b26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01d3a4b26_1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a01d3a4b26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-65500" y="1233175"/>
            <a:ext cx="47055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300"/>
              <a:t>ExpenseTracker:</a:t>
            </a:r>
            <a:br>
              <a:rPr lang="en" sz="2300"/>
            </a:br>
            <a:r>
              <a:rPr lang="en" sz="2300"/>
              <a:t>From Expenses to Conversations</a:t>
            </a:r>
            <a:endParaRPr sz="2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100"/>
              <a:buNone/>
            </a:pPr>
            <a:r>
              <a:rPr lang="en" sz="1900"/>
              <a:t>CSCE 606 - Project 2</a:t>
            </a:r>
            <a:endParaRPr sz="1900"/>
          </a:p>
        </p:txBody>
      </p:sp>
      <p:sp>
        <p:nvSpPr>
          <p:cNvPr id="101" name="Google Shape;101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Venkateswarlu Nagineni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Quan Nguyen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Pradeep Periyasamy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Amesh Shrestha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/>
              <a:t>The Application – Who &amp; What</a:t>
            </a:r>
            <a:endParaRPr/>
          </a:p>
        </p:txBody>
      </p:sp>
      <p:grpSp>
        <p:nvGrpSpPr>
          <p:cNvPr id="107" name="Google Shape;107;p26"/>
          <p:cNvGrpSpPr/>
          <p:nvPr/>
        </p:nvGrpSpPr>
        <p:grpSpPr>
          <a:xfrm>
            <a:off x="803085" y="1208258"/>
            <a:ext cx="7537828" cy="3264340"/>
            <a:chOff x="491385" y="33"/>
            <a:chExt cx="7537828" cy="3264340"/>
          </a:xfrm>
        </p:grpSpPr>
        <p:sp>
          <p:nvSpPr>
            <p:cNvPr id="108" name="Google Shape;108;p26"/>
            <p:cNvSpPr/>
            <p:nvPr/>
          </p:nvSpPr>
          <p:spPr>
            <a:xfrm>
              <a:off x="2699678" y="1632204"/>
              <a:ext cx="888255" cy="95487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169C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9" name="Google Shape;109;p26"/>
            <p:cNvSpPr/>
            <p:nvPr/>
          </p:nvSpPr>
          <p:spPr>
            <a:xfrm>
              <a:off x="2699678" y="677328"/>
              <a:ext cx="888255" cy="954875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25400">
              <a:solidFill>
                <a:srgbClr val="3169C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0" name="Google Shape;110;p26"/>
            <p:cNvSpPr/>
            <p:nvPr/>
          </p:nvSpPr>
          <p:spPr>
            <a:xfrm flipH="1">
              <a:off x="491385" y="954908"/>
              <a:ext cx="2208293" cy="1354590"/>
            </a:xfrm>
            <a:prstGeom prst="rect">
              <a:avLst/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6"/>
            <p:cNvSpPr txBox="1"/>
            <p:nvPr/>
          </p:nvSpPr>
          <p:spPr>
            <a:xfrm>
              <a:off x="491385" y="954908"/>
              <a:ext cx="2208293" cy="1354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Client/</a:t>
              </a:r>
              <a:b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End-users: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6"/>
            <p:cNvSpPr/>
            <p:nvPr/>
          </p:nvSpPr>
          <p:spPr>
            <a:xfrm>
              <a:off x="3587934" y="33"/>
              <a:ext cx="4441279" cy="1354590"/>
            </a:xfrm>
            <a:prstGeom prst="rect">
              <a:avLst/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6"/>
            <p:cNvSpPr txBox="1"/>
            <p:nvPr/>
          </p:nvSpPr>
          <p:spPr>
            <a:xfrm>
              <a:off x="3587934" y="33"/>
              <a:ext cx="4441279" cy="1354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Group Members:</a:t>
              </a:r>
              <a:b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roommates, friends, or colleagues sharing &amp; wanting to manage financial activities together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6"/>
            <p:cNvSpPr/>
            <p:nvPr/>
          </p:nvSpPr>
          <p:spPr>
            <a:xfrm>
              <a:off x="3587934" y="1909783"/>
              <a:ext cx="4441279" cy="1354590"/>
            </a:xfrm>
            <a:prstGeom prst="rect">
              <a:avLst/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6"/>
            <p:cNvSpPr txBox="1"/>
            <p:nvPr/>
          </p:nvSpPr>
          <p:spPr>
            <a:xfrm>
              <a:off x="3587934" y="1909783"/>
              <a:ext cx="4441279" cy="1354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Spender:</a:t>
              </a:r>
              <a:b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just anyone who wants to record and manage their personal or group expenses.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7"/>
          <p:cNvGrpSpPr/>
          <p:nvPr/>
        </p:nvGrpSpPr>
        <p:grpSpPr>
          <a:xfrm>
            <a:off x="311700" y="1272516"/>
            <a:ext cx="8520600" cy="3563836"/>
            <a:chOff x="0" y="64291"/>
            <a:chExt cx="8520600" cy="3563836"/>
          </a:xfrm>
        </p:grpSpPr>
        <p:sp>
          <p:nvSpPr>
            <p:cNvPr id="121" name="Google Shape;121;p27"/>
            <p:cNvSpPr/>
            <p:nvPr/>
          </p:nvSpPr>
          <p:spPr>
            <a:xfrm>
              <a:off x="0" y="64291"/>
              <a:ext cx="8520600" cy="514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67EFF"/>
                </a:gs>
                <a:gs pos="100000">
                  <a:srgbClr val="74A8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7"/>
            <p:cNvSpPr txBox="1"/>
            <p:nvPr/>
          </p:nvSpPr>
          <p:spPr>
            <a:xfrm>
              <a:off x="25130" y="89421"/>
              <a:ext cx="8470340" cy="464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problems does it solve?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0" y="579091"/>
              <a:ext cx="8520600" cy="557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0" y="579091"/>
              <a:ext cx="8520600" cy="557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2705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Char char="•"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Helps users log, view, and organize personal and shared expenses</a:t>
              </a:r>
              <a:endParaRPr/>
            </a:p>
            <a:p>
              <a:pPr indent="0" lvl="1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Enables direct private communication between users about expenses</a:t>
              </a:r>
              <a:endParaRPr/>
            </a:p>
            <a:p>
              <a:pPr indent="0" lvl="1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Simplifies account management with secure login, Google OAuth, and backup/restore.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0" y="1545521"/>
              <a:ext cx="8520600" cy="514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67EFF"/>
                </a:gs>
                <a:gs pos="100000">
                  <a:srgbClr val="74A8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7"/>
            <p:cNvSpPr txBox="1"/>
            <p:nvPr/>
          </p:nvSpPr>
          <p:spPr>
            <a:xfrm>
              <a:off x="25130" y="1590097"/>
              <a:ext cx="8470340" cy="464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How does it solve those problems?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0" y="1651756"/>
              <a:ext cx="8520600" cy="154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7"/>
            <p:cNvSpPr txBox="1"/>
            <p:nvPr/>
          </p:nvSpPr>
          <p:spPr>
            <a:xfrm>
              <a:off x="0" y="2079767"/>
              <a:ext cx="8520600" cy="154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2705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Char char="•"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Provides full authentication and account lifecycle management (signup, login, password reset, deletion)</a:t>
              </a:r>
              <a:endParaRPr/>
            </a:p>
            <a:p>
              <a:pPr indent="0" lvl="1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Allows users to create, edit, and manage expenses and groups</a:t>
              </a:r>
              <a:endParaRPr/>
            </a:p>
            <a:p>
              <a:pPr indent="0" lvl="1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Enables private conversations linked to expenses or shared groups</a:t>
              </a:r>
              <a:endParaRPr/>
            </a:p>
            <a:p>
              <a:pPr indent="0" lvl="1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Provides backup and restore features for expense data with clear user instructions.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The Application - Who &amp; What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System Design - Key Components</a:t>
            </a:r>
            <a:endParaRPr/>
          </a:p>
        </p:txBody>
      </p:sp>
      <p:grpSp>
        <p:nvGrpSpPr>
          <p:cNvPr id="135" name="Google Shape;135;p28"/>
          <p:cNvGrpSpPr/>
          <p:nvPr/>
        </p:nvGrpSpPr>
        <p:grpSpPr>
          <a:xfrm>
            <a:off x="560323" y="1344732"/>
            <a:ext cx="1800000" cy="1800079"/>
            <a:chOff x="187800" y="732164"/>
            <a:chExt cx="1800000" cy="1800079"/>
          </a:xfrm>
        </p:grpSpPr>
        <p:sp>
          <p:nvSpPr>
            <p:cNvPr id="136" name="Google Shape;136;p28"/>
            <p:cNvSpPr/>
            <p:nvPr/>
          </p:nvSpPr>
          <p:spPr>
            <a:xfrm>
              <a:off x="682800" y="732164"/>
              <a:ext cx="810000" cy="81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8"/>
            <p:cNvSpPr txBox="1"/>
            <p:nvPr/>
          </p:nvSpPr>
          <p:spPr>
            <a:xfrm>
              <a:off x="187800" y="1812243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Frontend: HTML/ERB views, [INSERT SOMETHING ELSE HERE]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28"/>
          <p:cNvGrpSpPr/>
          <p:nvPr/>
        </p:nvGrpSpPr>
        <p:grpSpPr>
          <a:xfrm>
            <a:off x="3564813" y="1344722"/>
            <a:ext cx="1800000" cy="1800079"/>
            <a:chOff x="2302800" y="732164"/>
            <a:chExt cx="1800000" cy="1800079"/>
          </a:xfrm>
        </p:grpSpPr>
        <p:sp>
          <p:nvSpPr>
            <p:cNvPr id="139" name="Google Shape;139;p28"/>
            <p:cNvSpPr/>
            <p:nvPr/>
          </p:nvSpPr>
          <p:spPr>
            <a:xfrm>
              <a:off x="2797800" y="732164"/>
              <a:ext cx="810000" cy="81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8"/>
            <p:cNvSpPr txBox="1"/>
            <p:nvPr/>
          </p:nvSpPr>
          <p:spPr>
            <a:xfrm>
              <a:off x="2302800" y="1812243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Backend: Ruby on Rails MVC framework.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8"/>
          <p:cNvGrpSpPr/>
          <p:nvPr/>
        </p:nvGrpSpPr>
        <p:grpSpPr>
          <a:xfrm>
            <a:off x="3564825" y="3224939"/>
            <a:ext cx="1800000" cy="1800079"/>
            <a:chOff x="4417800" y="732164"/>
            <a:chExt cx="1800000" cy="1800079"/>
          </a:xfrm>
        </p:grpSpPr>
        <p:sp>
          <p:nvSpPr>
            <p:cNvPr id="142" name="Google Shape;142;p28"/>
            <p:cNvSpPr/>
            <p:nvPr/>
          </p:nvSpPr>
          <p:spPr>
            <a:xfrm>
              <a:off x="4912800" y="732164"/>
              <a:ext cx="810000" cy="81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8"/>
            <p:cNvSpPr txBox="1"/>
            <p:nvPr/>
          </p:nvSpPr>
          <p:spPr>
            <a:xfrm>
              <a:off x="4417800" y="1812243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Database: PostgreSQL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4" name="Google Shape;144;p28"/>
          <p:cNvCxnSpPr>
            <a:stCxn id="136" idx="3"/>
            <a:endCxn id="139" idx="1"/>
          </p:cNvCxnSpPr>
          <p:nvPr/>
        </p:nvCxnSpPr>
        <p:spPr>
          <a:xfrm>
            <a:off x="1865323" y="1749732"/>
            <a:ext cx="21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28"/>
          <p:cNvCxnSpPr>
            <a:endCxn id="142" idx="0"/>
          </p:cNvCxnSpPr>
          <p:nvPr/>
        </p:nvCxnSpPr>
        <p:spPr>
          <a:xfrm>
            <a:off x="4464825" y="2154839"/>
            <a:ext cx="0" cy="10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28"/>
          <p:cNvCxnSpPr>
            <a:stCxn id="139" idx="3"/>
            <a:endCxn id="147" idx="1"/>
          </p:cNvCxnSpPr>
          <p:nvPr/>
        </p:nvCxnSpPr>
        <p:spPr>
          <a:xfrm flipH="1" rot="10800000">
            <a:off x="4869813" y="1152722"/>
            <a:ext cx="2324400" cy="5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28"/>
          <p:cNvCxnSpPr>
            <a:stCxn id="139" idx="3"/>
            <a:endCxn id="149" idx="1"/>
          </p:cNvCxnSpPr>
          <p:nvPr/>
        </p:nvCxnSpPr>
        <p:spPr>
          <a:xfrm>
            <a:off x="4869813" y="1749722"/>
            <a:ext cx="2284500" cy="16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50" name="Google Shape;150;p28"/>
          <p:cNvGrpSpPr/>
          <p:nvPr/>
        </p:nvGrpSpPr>
        <p:grpSpPr>
          <a:xfrm>
            <a:off x="6569325" y="837765"/>
            <a:ext cx="1800000" cy="1538407"/>
            <a:chOff x="6569325" y="837765"/>
            <a:chExt cx="1800000" cy="1538407"/>
          </a:xfrm>
        </p:grpSpPr>
        <p:sp>
          <p:nvSpPr>
            <p:cNvPr id="151" name="Google Shape;151;p28"/>
            <p:cNvSpPr txBox="1"/>
            <p:nvPr/>
          </p:nvSpPr>
          <p:spPr>
            <a:xfrm>
              <a:off x="6569325" y="165617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External Service: Google Oauth for authentication/account management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Syncing Cloud" id="147" name="Google Shape;147;p28"/>
            <p:cNvSpPr/>
            <p:nvPr/>
          </p:nvSpPr>
          <p:spPr>
            <a:xfrm>
              <a:off x="7194166" y="837765"/>
              <a:ext cx="630000" cy="63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28"/>
          <p:cNvGrpSpPr/>
          <p:nvPr/>
        </p:nvGrpSpPr>
        <p:grpSpPr>
          <a:xfrm>
            <a:off x="6604993" y="3042873"/>
            <a:ext cx="1800000" cy="1584170"/>
            <a:chOff x="6604993" y="3042873"/>
            <a:chExt cx="1800000" cy="1584170"/>
          </a:xfrm>
        </p:grpSpPr>
        <p:sp>
          <p:nvSpPr>
            <p:cNvPr id="153" name="Google Shape;153;p28"/>
            <p:cNvSpPr txBox="1"/>
            <p:nvPr/>
          </p:nvSpPr>
          <p:spPr>
            <a:xfrm>
              <a:off x="6604993" y="3907043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External Service:</a:t>
              </a:r>
              <a:b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Google Cloud for sending emails to users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Syncing Cloud" id="149" name="Google Shape;149;p28"/>
            <p:cNvSpPr/>
            <p:nvPr/>
          </p:nvSpPr>
          <p:spPr>
            <a:xfrm>
              <a:off x="7154315" y="3042873"/>
              <a:ext cx="630000" cy="63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950" y="164162"/>
            <a:ext cx="6249052" cy="46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Design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Database Design Model (in words)</a:t>
            </a:r>
            <a:endParaRPr/>
          </a:p>
        </p:txBody>
      </p:sp>
      <p:grpSp>
        <p:nvGrpSpPr>
          <p:cNvPr id="165" name="Google Shape;165;p30"/>
          <p:cNvGrpSpPr/>
          <p:nvPr/>
        </p:nvGrpSpPr>
        <p:grpSpPr>
          <a:xfrm>
            <a:off x="311700" y="1511308"/>
            <a:ext cx="8520600" cy="2658241"/>
            <a:chOff x="0" y="303083"/>
            <a:chExt cx="8520600" cy="2658241"/>
          </a:xfrm>
        </p:grpSpPr>
        <p:sp>
          <p:nvSpPr>
            <p:cNvPr id="166" name="Google Shape;166;p30"/>
            <p:cNvSpPr/>
            <p:nvPr/>
          </p:nvSpPr>
          <p:spPr>
            <a:xfrm>
              <a:off x="0" y="303083"/>
              <a:ext cx="8520600" cy="608400"/>
            </a:xfrm>
            <a:prstGeom prst="roundRect">
              <a:avLst>
                <a:gd fmla="val 16667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0"/>
            <p:cNvSpPr txBox="1"/>
            <p:nvPr/>
          </p:nvSpPr>
          <p:spPr>
            <a:xfrm>
              <a:off x="29700" y="332783"/>
              <a:ext cx="84612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 to many relationship between [INSERT MODELS]</a:t>
              </a:r>
              <a:endPara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0" y="986363"/>
              <a:ext cx="8520600" cy="608400"/>
            </a:xfrm>
            <a:prstGeom prst="roundRect">
              <a:avLst>
                <a:gd fmla="val 16667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0"/>
            <p:cNvSpPr txBox="1"/>
            <p:nvPr/>
          </p:nvSpPr>
          <p:spPr>
            <a:xfrm>
              <a:off x="29700" y="1016063"/>
              <a:ext cx="84612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t/>
              </a:r>
              <a:endPara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0" y="1669644"/>
              <a:ext cx="8520600" cy="608400"/>
            </a:xfrm>
            <a:prstGeom prst="roundRect">
              <a:avLst>
                <a:gd fmla="val 16667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0"/>
            <p:cNvSpPr txBox="1"/>
            <p:nvPr/>
          </p:nvSpPr>
          <p:spPr>
            <a:xfrm>
              <a:off x="29700" y="1699344"/>
              <a:ext cx="84612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Many to many relationship between [INSERT MODELS]</a:t>
              </a:r>
              <a:endPara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0" y="2352924"/>
              <a:ext cx="8520600" cy="608400"/>
            </a:xfrm>
            <a:prstGeom prst="roundRect">
              <a:avLst>
                <a:gd fmla="val 16667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0"/>
            <p:cNvSpPr txBox="1"/>
            <p:nvPr/>
          </p:nvSpPr>
          <p:spPr>
            <a:xfrm>
              <a:off x="29700" y="2382624"/>
              <a:ext cx="84612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 to many relationship between [INSERT MODELS]</a:t>
              </a:r>
              <a:endPara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/>
              <a:t>Frameworks &amp; Tools Used</a:t>
            </a:r>
            <a:endParaRPr/>
          </a:p>
        </p:txBody>
      </p:sp>
      <p:sp>
        <p:nvSpPr>
          <p:cNvPr id="179" name="Google Shape;179;p31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Ruby on Rails: Model View Controller Framework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PostGreSQL: Relational Database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Rspec for unit tests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Cucumber for acceptance tests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Capybara for system tests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 Integration: OpenAI API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Frontend: Hotwire (Turbo) with Tailwind CSS (via CDN)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Deployment: GitHub Actions (CI), Heroku (Production)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Design Patterns Used</a:t>
            </a:r>
            <a:endParaRPr/>
          </a:p>
        </p:txBody>
      </p:sp>
      <p:grpSp>
        <p:nvGrpSpPr>
          <p:cNvPr id="185" name="Google Shape;185;p32"/>
          <p:cNvGrpSpPr/>
          <p:nvPr/>
        </p:nvGrpSpPr>
        <p:grpSpPr>
          <a:xfrm>
            <a:off x="311700" y="1208623"/>
            <a:ext cx="8520600" cy="2331149"/>
            <a:chOff x="0" y="398"/>
            <a:chExt cx="8520600" cy="2331149"/>
          </a:xfrm>
        </p:grpSpPr>
        <p:sp>
          <p:nvSpPr>
            <p:cNvPr id="186" name="Google Shape;186;p32"/>
            <p:cNvSpPr/>
            <p:nvPr/>
          </p:nvSpPr>
          <p:spPr>
            <a:xfrm>
              <a:off x="0" y="398"/>
              <a:ext cx="8520600" cy="932400"/>
            </a:xfrm>
            <a:prstGeom prst="roundRect">
              <a:avLst>
                <a:gd fmla="val 10000" name="adj"/>
              </a:avLst>
            </a:prstGeom>
            <a:solidFill>
              <a:srgbClr val="CDD8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2"/>
            <p:cNvSpPr/>
            <p:nvPr/>
          </p:nvSpPr>
          <p:spPr>
            <a:xfrm>
              <a:off x="282069" y="210202"/>
              <a:ext cx="513000" cy="513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1076991" y="398"/>
              <a:ext cx="7443600" cy="9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2"/>
            <p:cNvSpPr txBox="1"/>
            <p:nvPr/>
          </p:nvSpPr>
          <p:spPr>
            <a:xfrm>
              <a:off x="1076991" y="398"/>
              <a:ext cx="7443600" cy="9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675" lIns="98675" spcFirstLastPara="1" rIns="98675" wrap="square" tIns="98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MVC (Model-View-Controller): Core Rails pattern for separation of concerns.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0" y="1165972"/>
              <a:ext cx="8520600" cy="1165575"/>
            </a:xfrm>
            <a:prstGeom prst="roundRect">
              <a:avLst>
                <a:gd fmla="val 10000" name="adj"/>
              </a:avLst>
            </a:prstGeom>
            <a:solidFill>
              <a:srgbClr val="CDD8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282069" y="1473052"/>
              <a:ext cx="513000" cy="513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1076991" y="1165973"/>
              <a:ext cx="7443600" cy="9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2"/>
            <p:cNvSpPr txBox="1"/>
            <p:nvPr/>
          </p:nvSpPr>
          <p:spPr>
            <a:xfrm>
              <a:off x="1076991" y="1302158"/>
              <a:ext cx="7443600" cy="9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675" lIns="98675" spcFirstLastPara="1" rIns="98675" wrap="square" tIns="98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 Object Pattern: Used for backup/restore JSON handling and OAuth authentication to keep controllers lightweight.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500"/>
              <a:t>System Design - Major Design Choices &amp; Justification</a:t>
            </a:r>
            <a:endParaRPr sz="2500"/>
          </a:p>
        </p:txBody>
      </p:sp>
      <p:graphicFrame>
        <p:nvGraphicFramePr>
          <p:cNvPr id="199" name="Google Shape;199;p33"/>
          <p:cNvGraphicFramePr/>
          <p:nvPr/>
        </p:nvGraphicFramePr>
        <p:xfrm>
          <a:off x="1006474" y="1208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{BD49C6F7-FA65-4273-80DE-C2AEBF88CB36}</a:tableStyleId>
              </a:tblPr>
              <a:tblGrid>
                <a:gridCol w="2018550"/>
                <a:gridCol w="5112500"/>
              </a:tblGrid>
              <a:tr h="37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CHOICES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50" marB="86250" marR="86225" marL="862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JUSTIFICATIONS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50" marB="86250" marR="86225" marL="862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Progressive Enhancement /</a:t>
                      </a:r>
                      <a:b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No-JS Fallback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Ensures core functionality ([INSERT FUNCTIONALITIES HERE]) works for all users, regardless of JavaScript availability. This improves accessibility and reliability.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Devise for Authentication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Simplifies implementation of secure user management, Google OAuth, and password resets.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Conversations &amp; Messages Models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Enables scalable private chat-like communication with expense quoting.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6225" marB="86250" marR="86225" marL="86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Backup/Restore via JSON</a:t>
                      </a:r>
                      <a:endParaRPr/>
                    </a:p>
                  </a:txBody>
                  <a:tcPr marT="43125" marB="86250" marR="86250" marL="862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</a:rPr>
                        <a:t>Portable, human-readable data format; simplifies testing and versioning.</a:t>
                      </a:r>
                      <a:endParaRPr/>
                    </a:p>
                  </a:txBody>
                  <a:tcPr marT="43125" marB="86250" marR="86250" marL="862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2742450" y="1599374"/>
            <a:ext cx="3659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[INSERT ALL ROUTES HERE WITH REAL UI IMAGES] </a:t>
            </a:r>
            <a:br>
              <a:rPr lang="en"/>
            </a:br>
            <a:r>
              <a:rPr lang="en"/>
              <a:t>[MULTIPLE SLIDES]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2742450" y="1599374"/>
            <a:ext cx="3659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[INSERT ALL ROUTES HERE WITH REAL UI IMAGES] </a:t>
            </a:r>
            <a:br>
              <a:rPr lang="en"/>
            </a:br>
            <a:r>
              <a:rPr lang="en"/>
              <a:t>[MULTIPLE SLIDES]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2742450" y="1599374"/>
            <a:ext cx="3659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[INSERT ALL ROUTES HERE WITH REAL UI IMAGES] </a:t>
            </a:r>
            <a:br>
              <a:rPr lang="en"/>
            </a:br>
            <a:r>
              <a:rPr lang="en"/>
              <a:t>[MULTIPLE SLIDES]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UI/UX Design - Design Principles Applied</a:t>
            </a:r>
            <a:endParaRPr/>
          </a:p>
        </p:txBody>
      </p:sp>
      <p:grpSp>
        <p:nvGrpSpPr>
          <p:cNvPr id="220" name="Google Shape;220;p37"/>
          <p:cNvGrpSpPr/>
          <p:nvPr/>
        </p:nvGrpSpPr>
        <p:grpSpPr>
          <a:xfrm>
            <a:off x="396018" y="1457257"/>
            <a:ext cx="8351963" cy="2766343"/>
            <a:chOff x="84318" y="249032"/>
            <a:chExt cx="8351963" cy="2766343"/>
          </a:xfrm>
        </p:grpSpPr>
        <p:sp>
          <p:nvSpPr>
            <p:cNvPr id="221" name="Google Shape;221;p37"/>
            <p:cNvSpPr/>
            <p:nvPr/>
          </p:nvSpPr>
          <p:spPr>
            <a:xfrm>
              <a:off x="84318" y="249032"/>
              <a:ext cx="1105697" cy="1105697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316514" y="481228"/>
              <a:ext cx="641304" cy="64130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7"/>
            <p:cNvSpPr/>
            <p:nvPr/>
          </p:nvSpPr>
          <p:spPr>
            <a:xfrm>
              <a:off x="1426950" y="249032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7"/>
            <p:cNvSpPr txBox="1"/>
            <p:nvPr/>
          </p:nvSpPr>
          <p:spPr>
            <a:xfrm>
              <a:off x="1426950" y="249032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Separate Pages for each developer’s features: Allows developers to work independently speeding up the development.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4487362" y="249032"/>
              <a:ext cx="1105697" cy="1105697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4719559" y="481228"/>
              <a:ext cx="641304" cy="64130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5829995" y="249032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7"/>
            <p:cNvSpPr txBox="1"/>
            <p:nvPr/>
          </p:nvSpPr>
          <p:spPr>
            <a:xfrm>
              <a:off x="5829995" y="249032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Seamless Navigation: Navbar links for “Expenses,” “Groups,” “Conversations,” and “Backup” are all available.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7"/>
            <p:cNvSpPr/>
            <p:nvPr/>
          </p:nvSpPr>
          <p:spPr>
            <a:xfrm>
              <a:off x="84318" y="1909678"/>
              <a:ext cx="1105697" cy="1105697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7"/>
            <p:cNvSpPr/>
            <p:nvPr/>
          </p:nvSpPr>
          <p:spPr>
            <a:xfrm>
              <a:off x="316514" y="2141875"/>
              <a:ext cx="641304" cy="64130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7"/>
            <p:cNvSpPr/>
            <p:nvPr/>
          </p:nvSpPr>
          <p:spPr>
            <a:xfrm>
              <a:off x="1426950" y="1909678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7"/>
            <p:cNvSpPr txBox="1"/>
            <p:nvPr/>
          </p:nvSpPr>
          <p:spPr>
            <a:xfrm>
              <a:off x="1426950" y="1909678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Consistency: Uniform button styles, forms, and flash messages throughout the app.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7"/>
            <p:cNvSpPr/>
            <p:nvPr/>
          </p:nvSpPr>
          <p:spPr>
            <a:xfrm>
              <a:off x="4487362" y="1909678"/>
              <a:ext cx="1105697" cy="1105697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7"/>
            <p:cNvSpPr/>
            <p:nvPr/>
          </p:nvSpPr>
          <p:spPr>
            <a:xfrm>
              <a:off x="4719559" y="2141875"/>
              <a:ext cx="641304" cy="64130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5829995" y="1909678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7"/>
            <p:cNvSpPr txBox="1"/>
            <p:nvPr/>
          </p:nvSpPr>
          <p:spPr>
            <a:xfrm>
              <a:off x="5829995" y="1909678"/>
              <a:ext cx="2606286" cy="1105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Progressive Disclosure: Expense details and quoted expenses within messages shown only when relevant.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AI Tool Usage</a:t>
            </a:r>
            <a:endParaRPr/>
          </a:p>
        </p:txBody>
      </p:sp>
      <p:sp>
        <p:nvSpPr>
          <p:cNvPr id="242" name="Google Shape;242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/>
              <a:t>– ChatGPT:</a:t>
            </a:r>
            <a:endParaRPr/>
          </a:p>
          <a:p>
            <a:pPr indent="-32575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Code Explanation &amp; Debugging: To understand complex error messages and suggest fixes for RSpec and Cucumber tests.</a:t>
            </a:r>
            <a:endParaRPr/>
          </a:p>
          <a:p>
            <a:pPr indent="-32575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Boilerplate Generation: For generating standard Rails controller actions and model specs.</a:t>
            </a:r>
            <a:endParaRPr/>
          </a:p>
          <a:p>
            <a:pPr indent="-32575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Idea Validation: For inquiring about the idiomatic way of doing stuff in ruby.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/>
              <a:t>– [ADD ALL AI YOU USED HERE]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/>
              <a:t>Challenges &amp; Lessons Learned</a:t>
            </a:r>
            <a:endParaRPr/>
          </a:p>
        </p:txBody>
      </p:sp>
      <p:grpSp>
        <p:nvGrpSpPr>
          <p:cNvPr id="248" name="Google Shape;248;p39"/>
          <p:cNvGrpSpPr/>
          <p:nvPr/>
        </p:nvGrpSpPr>
        <p:grpSpPr>
          <a:xfrm>
            <a:off x="311700" y="1208225"/>
            <a:ext cx="8520600" cy="3264406"/>
            <a:chOff x="0" y="0"/>
            <a:chExt cx="8520600" cy="3264406"/>
          </a:xfrm>
        </p:grpSpPr>
        <p:cxnSp>
          <p:nvCxnSpPr>
            <p:cNvPr id="249" name="Google Shape;249;p39"/>
            <p:cNvCxnSpPr/>
            <p:nvPr/>
          </p:nvCxnSpPr>
          <p:spPr>
            <a:xfrm>
              <a:off x="0" y="0"/>
              <a:ext cx="8520600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50" name="Google Shape;250;p39"/>
            <p:cNvSpPr/>
            <p:nvPr/>
          </p:nvSpPr>
          <p:spPr>
            <a:xfrm>
              <a:off x="0" y="0"/>
              <a:ext cx="1797084" cy="163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9"/>
            <p:cNvSpPr txBox="1"/>
            <p:nvPr/>
          </p:nvSpPr>
          <p:spPr>
            <a:xfrm>
              <a:off x="0" y="0"/>
              <a:ext cx="1797084" cy="163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Challenge 1: Complex User Stories Integration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9"/>
            <p:cNvSpPr/>
            <p:nvPr/>
          </p:nvSpPr>
          <p:spPr>
            <a:xfrm>
              <a:off x="1923021" y="37935"/>
              <a:ext cx="6590692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9"/>
            <p:cNvSpPr txBox="1"/>
            <p:nvPr/>
          </p:nvSpPr>
          <p:spPr>
            <a:xfrm>
              <a:off x="1923021" y="37935"/>
              <a:ext cx="6590692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Problem: Over 25 stories involving authentication, messaging, and backup interactions caused merge conflicts and accidentally reverted features.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39"/>
            <p:cNvCxnSpPr/>
            <p:nvPr/>
          </p:nvCxnSpPr>
          <p:spPr>
            <a:xfrm>
              <a:off x="1797084" y="796655"/>
              <a:ext cx="6716629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BCCCF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55" name="Google Shape;255;p39"/>
            <p:cNvSpPr/>
            <p:nvPr/>
          </p:nvSpPr>
          <p:spPr>
            <a:xfrm>
              <a:off x="1923021" y="834591"/>
              <a:ext cx="6590692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9"/>
            <p:cNvSpPr txBox="1"/>
            <p:nvPr/>
          </p:nvSpPr>
          <p:spPr>
            <a:xfrm>
              <a:off x="1923021" y="834591"/>
              <a:ext cx="6590692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Lesson: Break large epics into smaller, well-isolated PRs for faster, safer merges.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" name="Google Shape;257;p39"/>
            <p:cNvCxnSpPr/>
            <p:nvPr/>
          </p:nvCxnSpPr>
          <p:spPr>
            <a:xfrm>
              <a:off x="1797084" y="1593311"/>
              <a:ext cx="6716629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BCCCF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8" name="Google Shape;258;p39"/>
            <p:cNvCxnSpPr/>
            <p:nvPr/>
          </p:nvCxnSpPr>
          <p:spPr>
            <a:xfrm>
              <a:off x="0" y="1632203"/>
              <a:ext cx="8520600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59" name="Google Shape;259;p39"/>
            <p:cNvSpPr/>
            <p:nvPr/>
          </p:nvSpPr>
          <p:spPr>
            <a:xfrm>
              <a:off x="0" y="1632203"/>
              <a:ext cx="1784814" cy="163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9"/>
            <p:cNvSpPr txBox="1"/>
            <p:nvPr/>
          </p:nvSpPr>
          <p:spPr>
            <a:xfrm>
              <a:off x="0" y="1632203"/>
              <a:ext cx="1784814" cy="163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Challenge 2: Authentication Edge Cases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9"/>
            <p:cNvSpPr/>
            <p:nvPr/>
          </p:nvSpPr>
          <p:spPr>
            <a:xfrm>
              <a:off x="1911000" y="1670139"/>
              <a:ext cx="6603756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9"/>
            <p:cNvSpPr txBox="1"/>
            <p:nvPr/>
          </p:nvSpPr>
          <p:spPr>
            <a:xfrm>
              <a:off x="1911000" y="1670139"/>
              <a:ext cx="6603756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Problem: Handling both Devise (email/password) and Google OAuth workflows cause conflicts between accounts created via one of these two separate methods but then attempted to log in via the other.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39"/>
            <p:cNvCxnSpPr/>
            <p:nvPr/>
          </p:nvCxnSpPr>
          <p:spPr>
            <a:xfrm>
              <a:off x="1784814" y="2428859"/>
              <a:ext cx="6729942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BCCCF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64" name="Google Shape;264;p39"/>
            <p:cNvSpPr/>
            <p:nvPr/>
          </p:nvSpPr>
          <p:spPr>
            <a:xfrm>
              <a:off x="1911000" y="2466795"/>
              <a:ext cx="6603756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9"/>
            <p:cNvSpPr txBox="1"/>
            <p:nvPr/>
          </p:nvSpPr>
          <p:spPr>
            <a:xfrm>
              <a:off x="1911000" y="2466795"/>
              <a:ext cx="6603756" cy="75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Lesson: Modify Devise Omniauth callbacks controller to handle the merge logic.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" name="Google Shape;266;p39"/>
            <p:cNvCxnSpPr/>
            <p:nvPr/>
          </p:nvCxnSpPr>
          <p:spPr>
            <a:xfrm>
              <a:off x="1784814" y="3225515"/>
              <a:ext cx="6729942" cy="0"/>
            </a:xfrm>
            <a:prstGeom prst="straightConnector1">
              <a:avLst/>
            </a:prstGeom>
            <a:solidFill>
              <a:srgbClr val="4185F2"/>
            </a:solidFill>
            <a:ln cap="flat" cmpd="sng" w="25400">
              <a:solidFill>
                <a:srgbClr val="BCCCF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/>
              <a:t>Future Plans &amp; Opportunities</a:t>
            </a:r>
            <a:endParaRPr sz="2600"/>
          </a:p>
        </p:txBody>
      </p:sp>
      <p:grpSp>
        <p:nvGrpSpPr>
          <p:cNvPr id="272" name="Google Shape;272;p40"/>
          <p:cNvGrpSpPr/>
          <p:nvPr/>
        </p:nvGrpSpPr>
        <p:grpSpPr>
          <a:xfrm>
            <a:off x="499500" y="1686095"/>
            <a:ext cx="8145000" cy="2308666"/>
            <a:chOff x="187800" y="477870"/>
            <a:chExt cx="8145000" cy="2308666"/>
          </a:xfrm>
        </p:grpSpPr>
        <p:sp>
          <p:nvSpPr>
            <p:cNvPr id="273" name="Google Shape;273;p40"/>
            <p:cNvSpPr/>
            <p:nvPr/>
          </p:nvSpPr>
          <p:spPr>
            <a:xfrm>
              <a:off x="538800" y="477870"/>
              <a:ext cx="1098000" cy="1098000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0"/>
            <p:cNvSpPr/>
            <p:nvPr/>
          </p:nvSpPr>
          <p:spPr>
            <a:xfrm>
              <a:off x="772800" y="711870"/>
              <a:ext cx="630000" cy="63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0"/>
            <p:cNvSpPr/>
            <p:nvPr/>
          </p:nvSpPr>
          <p:spPr>
            <a:xfrm>
              <a:off x="187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0"/>
            <p:cNvSpPr txBox="1"/>
            <p:nvPr/>
          </p:nvSpPr>
          <p:spPr>
            <a:xfrm>
              <a:off x="187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MOBILE RESPONSIVE UI:</a:t>
              </a:r>
              <a:b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OPTIMIZE CONVERSATION AND EXPENSE MANAGEMENT FOR MOBILE DEVICES.</a:t>
              </a:r>
              <a:endParaRPr/>
            </a:p>
          </p:txBody>
        </p:sp>
        <p:sp>
          <p:nvSpPr>
            <p:cNvPr id="277" name="Google Shape;277;p40"/>
            <p:cNvSpPr/>
            <p:nvPr/>
          </p:nvSpPr>
          <p:spPr>
            <a:xfrm>
              <a:off x="2653800" y="477870"/>
              <a:ext cx="1098000" cy="1098000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0"/>
            <p:cNvSpPr/>
            <p:nvPr/>
          </p:nvSpPr>
          <p:spPr>
            <a:xfrm>
              <a:off x="2887800" y="711870"/>
              <a:ext cx="630000" cy="63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0"/>
            <p:cNvSpPr/>
            <p:nvPr/>
          </p:nvSpPr>
          <p:spPr>
            <a:xfrm>
              <a:off x="2302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0"/>
            <p:cNvSpPr txBox="1"/>
            <p:nvPr/>
          </p:nvSpPr>
          <p:spPr>
            <a:xfrm>
              <a:off x="2302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ENHANCED NOTIFICATIONS:</a:t>
              </a:r>
              <a:b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 REAL-TIME ALERTS FOR NEW MESSAGES OR GROUP INVITATIONS.</a:t>
              </a: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4768800" y="477870"/>
              <a:ext cx="1098000" cy="1098000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0"/>
            <p:cNvSpPr/>
            <p:nvPr/>
          </p:nvSpPr>
          <p:spPr>
            <a:xfrm>
              <a:off x="5002800" y="711870"/>
              <a:ext cx="630000" cy="63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0"/>
            <p:cNvSpPr/>
            <p:nvPr/>
          </p:nvSpPr>
          <p:spPr>
            <a:xfrm>
              <a:off x="4417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0"/>
            <p:cNvSpPr txBox="1"/>
            <p:nvPr/>
          </p:nvSpPr>
          <p:spPr>
            <a:xfrm>
              <a:off x="4417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EXPENSE ANALYTICS:</a:t>
              </a:r>
              <a:b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 VISUAL SUMMARIES OF SPENDING TRENDS PER GROUP OR CATEGORY.</a:t>
              </a:r>
              <a:endParaRPr/>
            </a:p>
          </p:txBody>
        </p:sp>
        <p:sp>
          <p:nvSpPr>
            <p:cNvPr id="285" name="Google Shape;285;p40"/>
            <p:cNvSpPr/>
            <p:nvPr/>
          </p:nvSpPr>
          <p:spPr>
            <a:xfrm>
              <a:off x="6883800" y="477870"/>
              <a:ext cx="1098000" cy="1098000"/>
            </a:xfrm>
            <a:prstGeom prst="ellipse">
              <a:avLst/>
            </a:prstGeom>
            <a:solidFill>
              <a:srgbClr val="D5DB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0"/>
            <p:cNvSpPr/>
            <p:nvPr/>
          </p:nvSpPr>
          <p:spPr>
            <a:xfrm>
              <a:off x="7117800" y="711870"/>
              <a:ext cx="630000" cy="63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6532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0"/>
            <p:cNvSpPr txBox="1"/>
            <p:nvPr/>
          </p:nvSpPr>
          <p:spPr>
            <a:xfrm>
              <a:off x="6532800" y="1917870"/>
              <a:ext cx="1800000" cy="868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BACKUP INTEGRATION:</a:t>
              </a:r>
              <a:b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SUPPORT GOOGLE DRIVE OR DROPBOX FOR BACKUP AND RESTORE OPTIONS.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 Images - Free Download on Freepik" id="293" name="Google Shape;2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76200"/>
            <a:ext cx="70485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